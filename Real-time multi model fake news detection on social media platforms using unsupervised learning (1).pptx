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6" r:id="rId3"/>
    <p:sldId id="268" r:id="rId4"/>
    <p:sldId id="269" r:id="rId5"/>
    <p:sldId id="286" r:id="rId6"/>
    <p:sldId id="287" r:id="rId7"/>
    <p:sldId id="288" r:id="rId8"/>
    <p:sldId id="270" r:id="rId9"/>
    <p:sldId id="280" r:id="rId10"/>
    <p:sldId id="271" r:id="rId11"/>
    <p:sldId id="272" r:id="rId12"/>
    <p:sldId id="273" r:id="rId13"/>
    <p:sldId id="274" r:id="rId14"/>
    <p:sldId id="275" r:id="rId15"/>
    <p:sldId id="281" r:id="rId16"/>
    <p:sldId id="282" r:id="rId17"/>
    <p:sldId id="283" r:id="rId18"/>
    <p:sldId id="284" r:id="rId19"/>
    <p:sldId id="290" r:id="rId20"/>
    <p:sldId id="289" r:id="rId21"/>
    <p:sldId id="291" r:id="rId22"/>
    <p:sldId id="28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-480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42038-52A2-4189-96C5-058F84423FA3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B0777-9591-41DB-8BB3-6420A4C39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1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B15668-188D-67FC-68CD-8E31731BE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382503-00CD-5074-8B07-1D38A13DE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DD6385-34AD-D268-E9FA-DFE13FA2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6D7E20-4311-EF71-3965-127F540D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A5008AB-D4C0-5FB7-9495-3B3B54B4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17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F6F13F-0E64-576A-FFCC-0BFA6A4C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E1BF5F-E077-88AC-F139-599DEA3C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6E9040-BF30-FC63-5D60-FDDB010A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BD41F5-286C-E102-E1D1-C6C5D0B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7CA8C7-5401-FDC1-E5AD-B9FA832C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4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955C4-0837-B4D3-C508-A0E6ACE4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29CE76-1928-4609-86D4-41B959CA5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F7F07C-8FE6-9B78-9079-7D896F46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86CB03-4D8C-4D7C-6F30-93E86DFF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2ED736-52DD-C806-9E0B-A0105B7C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352A72-EE81-5ED3-4C1D-CD28016A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AC8C30-DA38-DA44-3925-8770319BD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14321F-42EE-3ACE-08CD-E0B2B3A80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7369A18-5482-327E-F88F-D77439F9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C2BFD1-CF2C-59E4-88D1-F455641E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2BEF454-4C9D-0CD4-37FB-5B5485F8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4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1BE1EF-99E9-B952-71EB-E0EFBBC1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3F77E9-4E0C-BB46-35F8-B9FE03A58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2BC6614-5970-081C-0289-6DD178A3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9268F31-AE50-8872-899C-CD24F8D67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5CB7815-0793-FC62-CE59-188F95A3C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A55BC04-AC70-8155-CE1D-6E4B6F5F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5DC462C-54FE-B2A4-743C-CB1009A2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8AF5135-6551-65BC-0A35-28750CE6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2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D16ACD-6926-0902-7B52-485ADA77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926DD4F-8914-FA3B-4F83-251EE737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BC516C1-AF55-6A7E-955D-6DCB78F5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A9A39BA-DC92-179E-EBB3-BFC121D4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2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36965E4-67AB-90AB-8B27-8D1D8A3A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1250A6D-D750-680A-43FF-EA90CF1D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CD26ED-383C-B9CA-8785-1DB79D39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9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FB46F-3EB5-4FAA-9E8A-27B2AE2F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7C93E9-1F1D-E15B-F8EE-C3E3B1162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A8AD32-52F1-E7F0-A74A-66156618B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8CDB5A-1714-72BE-434F-1406201BC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A5E327-3FA7-8CF5-26D6-3EAF4BCA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C2FAFC-7633-61EB-F45E-37389743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91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F60A72-2516-BD26-03E9-1C3BC945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2D459BB-B7B7-19D9-CC72-DDDDD48D0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E8DD0D1-5336-C3CA-9FE0-AABF61A3B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73DD478-CB02-95BA-6D57-356ACBCE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AA96B3-A75C-A9A7-4DF6-7D969117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A46757-0E2A-AC62-76AF-47C78167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49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DF7B09-AFF5-A6D2-8ED7-674F4B04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3A2E74-F7F0-FA53-1746-66E881F11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CE62DD-8A60-5EE0-C83E-0CDCD1AF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D7D278-3730-2DE8-44D1-6AE286DE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52AFF1-BFBF-5ED7-8A91-8A4C42E6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9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29EF0BB-811E-2FC3-4AF6-DE8F892C4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EFA4BB5-7820-05E1-E6E2-600A98CEF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4EBD71-1075-4B0A-6E0E-0A4F5CB1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998B6D-6FB8-1358-3CB7-06EBE0A0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42987D-9B49-9684-BFD2-B5AC6196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1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E76F0E6-D93C-E4AB-5ADE-BD70B15F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FFE5-41A6-CB90-07A7-DA5C6EB9B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58035D-E55B-E02B-CA7B-24D29F66D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D8C4-204B-4C73-9158-2C5200080BA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407F8E-37CC-E48E-74ED-60763FBED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B07EFF-17B6-36D1-413C-09F443CB0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23F4-9A83-4827-9A2E-A90E99DD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42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>
            <a:extLst>
              <a:ext uri="{FF2B5EF4-FFF2-40B4-BE49-F238E27FC236}">
                <a16:creationId xmlns:a16="http://schemas.microsoft.com/office/drawing/2014/main" xmlns="" id="{FDBFD0E2-30B8-F51F-2B97-A6EF81CD3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4811" y="503779"/>
            <a:ext cx="112999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2.jpeg">
            <a:extLst>
              <a:ext uri="{FF2B5EF4-FFF2-40B4-BE49-F238E27FC236}">
                <a16:creationId xmlns:a16="http://schemas.microsoft.com/office/drawing/2014/main" xmlns="" id="{7648D2B3-C715-021D-B0DA-BAA5A0668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17989" y="351379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C3C30F-2497-0849-6F91-A2D769E644C1}"/>
              </a:ext>
            </a:extLst>
          </p:cNvPr>
          <p:cNvSpPr txBox="1"/>
          <p:nvPr/>
        </p:nvSpPr>
        <p:spPr>
          <a:xfrm>
            <a:off x="3460502" y="544713"/>
            <a:ext cx="527099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Jaya Sakthi Engineering College </a:t>
            </a:r>
            <a:br>
              <a:rPr lang="en-US" altLang="zh-CN" sz="2800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800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/>
            </a:r>
            <a:br>
              <a:rPr lang="en-US" altLang="zh-CN" sz="2800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800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zh-CN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FINAL YEAR PROJECT </a:t>
            </a:r>
            <a:endParaRPr lang="en-GB" altLang="zh-CN" sz="2800" b="1" dirty="0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BDCACEB-1855-A9F0-8AC8-1B3E2094AC2B}"/>
              </a:ext>
            </a:extLst>
          </p:cNvPr>
          <p:cNvSpPr txBox="1"/>
          <p:nvPr/>
        </p:nvSpPr>
        <p:spPr>
          <a:xfrm>
            <a:off x="6653423" y="4085950"/>
            <a:ext cx="33382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GUIDER NAME: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Mrs . P. Neelavathi </a:t>
            </a: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B.E,M.E</a:t>
            </a:r>
            <a:endParaRPr lang="en-IN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7591203-DD78-F729-DE79-130EF35E8923}"/>
              </a:ext>
            </a:extLst>
          </p:cNvPr>
          <p:cNvSpPr txBox="1"/>
          <p:nvPr/>
        </p:nvSpPr>
        <p:spPr>
          <a:xfrm>
            <a:off x="1408000" y="2456618"/>
            <a:ext cx="9375997" cy="9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ulti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odel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ake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ews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etection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edia Platforms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 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24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nsupervised Learning</a:t>
            </a:r>
            <a:endParaRPr lang="en-IN" sz="2400" b="1" kern="10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A436883-B6A7-018D-9673-B05F451DC77E}"/>
              </a:ext>
            </a:extLst>
          </p:cNvPr>
          <p:cNvSpPr txBox="1"/>
          <p:nvPr/>
        </p:nvSpPr>
        <p:spPr>
          <a:xfrm>
            <a:off x="2264411" y="4085950"/>
            <a:ext cx="349877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Hemalatha .S (112021104012)</a:t>
            </a: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Thenmozhi .S (112021104031)</a:t>
            </a: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776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5C0DD6D-ED16-2EC6-54C4-59720222B17F}"/>
              </a:ext>
            </a:extLst>
          </p:cNvPr>
          <p:cNvSpPr txBox="1"/>
          <p:nvPr/>
        </p:nvSpPr>
        <p:spPr>
          <a:xfrm>
            <a:off x="629265" y="629265"/>
            <a:ext cx="143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8CD6AEE-A646-237E-2A6B-A24A16485002}"/>
              </a:ext>
            </a:extLst>
          </p:cNvPr>
          <p:cNvSpPr txBox="1"/>
          <p:nvPr/>
        </p:nvSpPr>
        <p:spPr>
          <a:xfrm>
            <a:off x="1130710" y="1337186"/>
            <a:ext cx="101665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proliferation of fake news on social media platforms represents a significant threat to information integrity and public discourse. Current detection methods are hampered by their reliance on single-modal analysis and lack of real-time processing capabilities. 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paper presents a novel multimodal approach that combines text analysis via the Deep-Seek large language model API with image processing through Py-Tesseract to detect fake news in real-time. Our system analyses both textual content and extracts text from images to perform comprehensive content evaluation, while providing transparent explanations for its classifications. 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Preliminary results indicate that this multimodal approach achieves higher detection accuracy (89.7%) compared to text-only (76.3%) or image-only (72.1%) approaches. The system demonstrates low latency (average response time of 1.2 seconds), making it suitable for integration with high-velocity social media content streams. 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research contributes to the field by demonstrating the efficacy of leveraging foundation models for fake news detection without extensive trained datasets, offering a scalable solution to combat misinformation.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4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FCE8201-0DB8-89E7-5D6B-7643E22E9CE2}"/>
              </a:ext>
            </a:extLst>
          </p:cNvPr>
          <p:cNvSpPr txBox="1"/>
          <p:nvPr/>
        </p:nvSpPr>
        <p:spPr>
          <a:xfrm>
            <a:off x="373624" y="483927"/>
            <a:ext cx="2851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75533A-4286-1A4E-FC8F-9C35D69336CF}"/>
              </a:ext>
            </a:extLst>
          </p:cNvPr>
          <p:cNvSpPr txBox="1"/>
          <p:nvPr/>
        </p:nvSpPr>
        <p:spPr>
          <a:xfrm>
            <a:off x="1268361" y="1264574"/>
            <a:ext cx="98322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rise of fake news is fueled by advanced AI-generated content and easy-to-use manipulation tools, making false information more convincing and widespread.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Social media platforms, designed for engagement, amplify this issue by enabling rapid sharing through polarized networks.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Existing detection systems often rely on a single modality like text or image, missing cross-modal inconsistencies, and many act as black boxes, offering no explanations.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These systems also demand large datasets and fail to meet real-time monitoring needs.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To address these challenges, this paper proposes a novel system combining </a:t>
            </a:r>
            <a:r>
              <a:rPr lang="en-US" b="1" dirty="0"/>
              <a:t>DeepSeek API</a:t>
            </a:r>
            <a:r>
              <a:rPr lang="en-US" dirty="0"/>
              <a:t> and </a:t>
            </a:r>
            <a:r>
              <a:rPr lang="en-US" b="1" dirty="0"/>
              <a:t>OCR technology</a:t>
            </a:r>
            <a:r>
              <a:rPr lang="en-US" dirty="0"/>
              <a:t>, allowing for simultaneous analysis of textual and visual content.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The approach ensures </a:t>
            </a:r>
            <a:r>
              <a:rPr lang="en-US" b="1" dirty="0"/>
              <a:t>real-time</a:t>
            </a:r>
            <a:r>
              <a:rPr lang="en-US" dirty="0"/>
              <a:t>, </a:t>
            </a:r>
            <a:r>
              <a:rPr lang="en-US" b="1" dirty="0"/>
              <a:t>multimodal</a:t>
            </a:r>
            <a:r>
              <a:rPr lang="en-US" dirty="0"/>
              <a:t>, and </a:t>
            </a:r>
            <a:r>
              <a:rPr lang="en-US" b="1" dirty="0"/>
              <a:t>explainable</a:t>
            </a:r>
            <a:r>
              <a:rPr lang="en-US" dirty="0"/>
              <a:t> fake news detection, enhancing accuracy, speed, and user trust.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7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12074C-2B99-AF35-6E78-1D4A4B024724}"/>
              </a:ext>
            </a:extLst>
          </p:cNvPr>
          <p:cNvSpPr txBox="1"/>
          <p:nvPr/>
        </p:nvSpPr>
        <p:spPr>
          <a:xfrm>
            <a:off x="285136" y="4642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141958C-4037-69C1-EB00-9B8B7AD34485}"/>
              </a:ext>
            </a:extLst>
          </p:cNvPr>
          <p:cNvSpPr txBox="1"/>
          <p:nvPr/>
        </p:nvSpPr>
        <p:spPr>
          <a:xfrm>
            <a:off x="1573161" y="1185915"/>
            <a:ext cx="8209935" cy="499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of this research are to:</a:t>
            </a:r>
          </a:p>
          <a:p>
            <a:pPr>
              <a:buNone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fake news detection system capable of analyzing both textual content and images on social media platforms.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multimodal approach that leverages the DeepSeek API for advanced language understanding and content verification.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OCR technology (Py-Tesseract) to extract and analyze text embedded within images, capturing a frequently overlooked vector for misinformation.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an explainable AI framework that provides transparent reasoning for classifications, enhancing user trust and system adoption.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Evaluate the system's performance in terms of accuracy, processing speed, and adaptability to evolving misinformation tactics.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51330" y="949163"/>
            <a:ext cx="10895635" cy="5520510"/>
            <a:chOff x="457201" y="487498"/>
            <a:chExt cx="10895635" cy="55205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CAF4CD92-0C1D-E8DE-0D04-AB2804A2826F}"/>
                </a:ext>
              </a:extLst>
            </p:cNvPr>
            <p:cNvSpPr txBox="1"/>
            <p:nvPr/>
          </p:nvSpPr>
          <p:spPr>
            <a:xfrm>
              <a:off x="551330" y="487498"/>
              <a:ext cx="2774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system:</a:t>
              </a:r>
              <a:endPara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77EC2A39-838A-7B22-1741-30D97EB0BC41}"/>
                </a:ext>
              </a:extLst>
            </p:cNvPr>
            <p:cNvSpPr txBox="1"/>
            <p:nvPr/>
          </p:nvSpPr>
          <p:spPr>
            <a:xfrm>
              <a:off x="1506071" y="1120676"/>
              <a:ext cx="9846765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Traditional fake news detection systems rely on single-modal approaches, focusing either on text or images, and use supervised learning techniques such as SVM, Naive Bayes, and Decision Trees.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These systems are slower, not suitable for real-time processing, and require large, trained datasets for training, making them less effective in dynamic and rapidly evolving social   media environments.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They often lack scalability, have limited explainability for their classification decisions, and achieve only moderate accuracy (65–78%).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D41CCD45-6846-62E5-9412-8866BE930AAC}"/>
                </a:ext>
              </a:extLst>
            </p:cNvPr>
            <p:cNvSpPr txBox="1"/>
            <p:nvPr/>
          </p:nvSpPr>
          <p:spPr>
            <a:xfrm>
              <a:off x="457201" y="3699684"/>
              <a:ext cx="1049677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Techniques Used:</a:t>
              </a:r>
              <a:r>
                <a:rPr lang="en-US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Supervised learning methods like SVM, Naive Bayes, and Decision Trees. 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Demerits:</a:t>
              </a:r>
            </a:p>
            <a:p>
              <a:endPara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to single-modal analysis, slower processing, and dependency on extensive trained data.</a:t>
              </a:r>
              <a:r>
                <a:rPr lang="en-US" dirty="0"/>
                <a:t> 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13691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C38A9D3-0238-59F4-51C6-BA8EC31F9039}"/>
              </a:ext>
            </a:extLst>
          </p:cNvPr>
          <p:cNvSpPr txBox="1"/>
          <p:nvPr/>
        </p:nvSpPr>
        <p:spPr>
          <a:xfrm>
            <a:off x="377863" y="236763"/>
            <a:ext cx="1077378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Single-Modality Limitation: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analyze only text or images, not both, leading to incomplete detection capabilities.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are not suitable for real-time detection, making them ineffective in handling fast-moving social media content.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Data Dependency: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large, trained datasets for training, which can be expensive and time-consuming to curate.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Explainability: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do not provide clear reasoning for classification decisions, reducing user trust.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EE96759-6344-419D-9867-2DA084EAB95E}"/>
              </a:ext>
            </a:extLst>
          </p:cNvPr>
          <p:cNvSpPr txBox="1"/>
          <p:nvPr/>
        </p:nvSpPr>
        <p:spPr>
          <a:xfrm>
            <a:off x="190949" y="4088011"/>
            <a:ext cx="1114761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  <a:p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system, titled "Real-Time Multimodal Fake News Detection on Social Media Using Unsupervised Learning," leverages a multimodal approach combining text and image analysis.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unsupervised learning techniques like the Deep-Seek LLM API for text and Py-Tesseract for image text extraction, enabling real-time detection with low latency (avg. 1.2 seconds) while maintaining high accuracy (89.7%).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5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CA79558-B39C-AF42-D990-492A79662908}"/>
              </a:ext>
            </a:extLst>
          </p:cNvPr>
          <p:cNvSpPr txBox="1"/>
          <p:nvPr/>
        </p:nvSpPr>
        <p:spPr>
          <a:xfrm>
            <a:off x="472750" y="860611"/>
            <a:ext cx="1124649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minimizes dependency on trained data by utilizing foundation models and pre-trained APIs, ensuring scalability and transparent explanations, and analyzing both textual and image-based content simultaneously.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also applicable as a voice note and multilinguistic support.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Detection 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text and image analysis with powerful unsupervised learning models, the system achieves high detection accuracy (89.7%) even with minimal trained data. 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Scalable: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offers real-time fake news detection with low latency (avg. 1.2 seconds) and can easily scale to handle the fast and high-volume nature of social media streams.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6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91C9C8C-0AB0-355E-D3D4-C0A462ACFE2E}"/>
              </a:ext>
            </a:extLst>
          </p:cNvPr>
          <p:cNvSpPr txBox="1"/>
          <p:nvPr/>
        </p:nvSpPr>
        <p:spPr>
          <a:xfrm>
            <a:off x="591672" y="92368"/>
            <a:ext cx="25964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6541E7B1-5FD9-52E8-9519-9D1745027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37679"/>
              </p:ext>
            </p:extLst>
          </p:nvPr>
        </p:nvGraphicFramePr>
        <p:xfrm>
          <a:off x="591671" y="719667"/>
          <a:ext cx="11228294" cy="565627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92250">
                  <a:extLst>
                    <a:ext uri="{9D8B030D-6E8A-4147-A177-3AD203B41FA5}">
                      <a16:colId xmlns:a16="http://schemas.microsoft.com/office/drawing/2014/main" xmlns="" val="4133150357"/>
                    </a:ext>
                  </a:extLst>
                </a:gridCol>
                <a:gridCol w="1190670">
                  <a:extLst>
                    <a:ext uri="{9D8B030D-6E8A-4147-A177-3AD203B41FA5}">
                      <a16:colId xmlns:a16="http://schemas.microsoft.com/office/drawing/2014/main" xmlns="" val="2063653100"/>
                    </a:ext>
                  </a:extLst>
                </a:gridCol>
                <a:gridCol w="1412190">
                  <a:extLst>
                    <a:ext uri="{9D8B030D-6E8A-4147-A177-3AD203B41FA5}">
                      <a16:colId xmlns:a16="http://schemas.microsoft.com/office/drawing/2014/main" xmlns="" val="2696378383"/>
                    </a:ext>
                  </a:extLst>
                </a:gridCol>
                <a:gridCol w="2962830">
                  <a:extLst>
                    <a:ext uri="{9D8B030D-6E8A-4147-A177-3AD203B41FA5}">
                      <a16:colId xmlns:a16="http://schemas.microsoft.com/office/drawing/2014/main" xmlns="" val="708879584"/>
                    </a:ext>
                  </a:extLst>
                </a:gridCol>
                <a:gridCol w="3098971">
                  <a:extLst>
                    <a:ext uri="{9D8B030D-6E8A-4147-A177-3AD203B41FA5}">
                      <a16:colId xmlns:a16="http://schemas.microsoft.com/office/drawing/2014/main" xmlns="" val="540591396"/>
                    </a:ext>
                  </a:extLst>
                </a:gridCol>
                <a:gridCol w="1871383">
                  <a:extLst>
                    <a:ext uri="{9D8B030D-6E8A-4147-A177-3AD203B41FA5}">
                      <a16:colId xmlns:a16="http://schemas.microsoft.com/office/drawing/2014/main" xmlns="" val="877118346"/>
                    </a:ext>
                  </a:extLst>
                </a:gridCol>
              </a:tblGrid>
              <a:tr h="623537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 PUBLISHED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TECHNIQUES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70652996"/>
                  </a:ext>
                </a:extLst>
              </a:tr>
              <a:tr h="249414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Text-Based Detection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 et al.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enhance fake news detection using text-based approaches. By leveraging both traditional machine learning and advanced transformer-based models like BERT, the author aims to improve the accuracy of detecting deceptive content.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Linguistic Feature Extraction + Traditional Machine Learning,</a:t>
                      </a:r>
                    </a:p>
                    <a:p>
                      <a:r>
                        <a:rPr lang="en-IN" dirty="0"/>
                        <a:t>Transformer-Based Models (e.g., BERT)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linguistic feature extraction and traditional ML classifiers; showed moderate success but had difficulty with sophisticated fake news.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54507919"/>
                  </a:ext>
                </a:extLst>
              </a:tr>
              <a:tr h="245587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Image-Based Detection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main goal is to improve the identification of visual misinformation, although limitations remain in understanding the relationship between images and associated or embedded text.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Visual Inconsistency &amp; Metadata Analysis,</a:t>
                      </a:r>
                      <a:r>
                        <a:rPr lang="en-IN" b="1" dirty="0"/>
                        <a:t> </a:t>
                      </a:r>
                      <a:r>
                        <a:rPr lang="en-IN" b="0" dirty="0"/>
                        <a:t>Convolutional Neural Networks (CNNs)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visual inconsistencies and metadata to detect image manipulation; effective but limited to specific visual clues.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31488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96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41FBC6D-C936-3500-3E94-A428AE50C8A2}"/>
              </a:ext>
            </a:extLst>
          </p:cNvPr>
          <p:cNvSpPr txBox="1"/>
          <p:nvPr/>
        </p:nvSpPr>
        <p:spPr>
          <a:xfrm>
            <a:off x="995082" y="67235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19ECBDE8-D9F9-2C05-AD11-F1ABD2612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226765"/>
              </p:ext>
            </p:extLst>
          </p:nvPr>
        </p:nvGraphicFramePr>
        <p:xfrm>
          <a:off x="851646" y="672353"/>
          <a:ext cx="10806953" cy="55378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21660">
                  <a:extLst>
                    <a:ext uri="{9D8B030D-6E8A-4147-A177-3AD203B41FA5}">
                      <a16:colId xmlns:a16="http://schemas.microsoft.com/office/drawing/2014/main" xmlns="" val="141578922"/>
                    </a:ext>
                  </a:extLst>
                </a:gridCol>
                <a:gridCol w="1156447">
                  <a:extLst>
                    <a:ext uri="{9D8B030D-6E8A-4147-A177-3AD203B41FA5}">
                      <a16:colId xmlns:a16="http://schemas.microsoft.com/office/drawing/2014/main" xmlns="" val="2849939511"/>
                    </a:ext>
                  </a:extLst>
                </a:gridCol>
                <a:gridCol w="1492623">
                  <a:extLst>
                    <a:ext uri="{9D8B030D-6E8A-4147-A177-3AD203B41FA5}">
                      <a16:colId xmlns:a16="http://schemas.microsoft.com/office/drawing/2014/main" xmlns="" val="542845756"/>
                    </a:ext>
                  </a:extLst>
                </a:gridCol>
                <a:gridCol w="2649071">
                  <a:extLst>
                    <a:ext uri="{9D8B030D-6E8A-4147-A177-3AD203B41FA5}">
                      <a16:colId xmlns:a16="http://schemas.microsoft.com/office/drawing/2014/main" xmlns="" val="232561826"/>
                    </a:ext>
                  </a:extLst>
                </a:gridCol>
                <a:gridCol w="2017059">
                  <a:extLst>
                    <a:ext uri="{9D8B030D-6E8A-4147-A177-3AD203B41FA5}">
                      <a16:colId xmlns:a16="http://schemas.microsoft.com/office/drawing/2014/main" xmlns="" val="2803864074"/>
                    </a:ext>
                  </a:extLst>
                </a:gridCol>
                <a:gridCol w="2770093">
                  <a:extLst>
                    <a:ext uri="{9D8B030D-6E8A-4147-A177-3AD203B41FA5}">
                      <a16:colId xmlns:a16="http://schemas.microsoft.com/office/drawing/2014/main" xmlns="" val="3707225648"/>
                    </a:ext>
                  </a:extLst>
                </a:gridCol>
              </a:tblGrid>
              <a:tr h="558565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 PUBLISHED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TECHNIQUES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767757"/>
                  </a:ext>
                </a:extLst>
              </a:tr>
              <a:tr h="1755489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Approaches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 et al. 2020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develop and evaluate multimodal approaches that effectively capture cross-modal relationships and inconsistencies, aiming to improve performance over single-modality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Early Fusion Techniques,</a:t>
                      </a:r>
                      <a:r>
                        <a:rPr lang="en-US" dirty="0"/>
                        <a:t> Attention Mechanisms for Multimodal Fusion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approach using early fusion; outperforms single-modality methods but needs parallel labeled datasets.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1783982"/>
                  </a:ext>
                </a:extLst>
              </a:tr>
              <a:tr h="261178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Text-Based Detection Methods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Devlin et al. 2019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improve fake news detection by using transformer-based models that can capture deep contextual relationships in text.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/>
                        <a:t>Transformer-based modelling, </a:t>
                      </a:r>
                      <a:r>
                        <a:rPr lang="en-IN" dirty="0"/>
                        <a:t>BERT,</a:t>
                      </a:r>
                      <a:r>
                        <a:rPr lang="en-US" b="1" dirty="0"/>
                        <a:t> </a:t>
                      </a:r>
                      <a:r>
                        <a:rPr lang="en-US" b="0" dirty="0"/>
                        <a:t>contextual embedding </a:t>
                      </a:r>
                      <a:r>
                        <a:rPr lang="en-US" dirty="0"/>
                        <a:t>of words for better semantic understanding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Transformer-based models like BERT improve fake news detection through contextual understanding but require large labeled datasets and high computational resources, posing deployment challenges.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34451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08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01549ED-E352-435F-D422-A6F5B3300B41}"/>
              </a:ext>
            </a:extLst>
          </p:cNvPr>
          <p:cNvSpPr txBox="1"/>
          <p:nvPr/>
        </p:nvSpPr>
        <p:spPr>
          <a:xfrm>
            <a:off x="363071" y="578224"/>
            <a:ext cx="3282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methodology: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991479C-8CC7-E846-9729-B17176CD0DC4}"/>
              </a:ext>
            </a:extLst>
          </p:cNvPr>
          <p:cNvSpPr txBox="1"/>
          <p:nvPr/>
        </p:nvSpPr>
        <p:spPr>
          <a:xfrm>
            <a:off x="2178425" y="1255947"/>
            <a:ext cx="8417857" cy="605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processes social media content through parallel pipelines that analyze both explicit text and visual elements, then combines these analyses for final classification: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Acquisition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interfaces with social media APIs to collect posts containing both text and images in real-time.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v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Explicit textual content is processed directly through the DeepSeek API using carefully engineered prompts designed to evaluate factual consistency, source credibility, and linguistic patterns associated with misinformation.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v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Images undergo two-phase analysis: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Visual feature extraction to identify manipulation indicators.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OCR using Py-Tesseract to extract embedded text, which is then analyzed through the DeepSeek API.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Results from text and image analysis are combined using a weighted ensemble approach, with weights dynamically adjusted based on confidence scores.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v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288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665FAC5-671A-FD51-5F7F-F21841B57DCB}"/>
              </a:ext>
            </a:extLst>
          </p:cNvPr>
          <p:cNvSpPr txBox="1"/>
          <p:nvPr/>
        </p:nvSpPr>
        <p:spPr>
          <a:xfrm>
            <a:off x="941294" y="403412"/>
            <a:ext cx="10861500" cy="6996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Explanation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provides a binary classification (real/fake) along with confidence score and natural language explanation of the reasoning process.</a:t>
            </a:r>
          </a:p>
          <a:p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US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 API Implementation:</a:t>
            </a:r>
          </a:p>
          <a:p>
            <a:pP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Rather than traditional supervised learning, our system employs prompt engineering to enable DeepSeek to evaluate content authenticity. We developed a multi-stage prompting strategy: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 Verification Prompt: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Instructs DeepSeek to identify verifiable claims and assess their factual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Credibility Analysis Prompt: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indicators of source legitimacy within the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Linguistic Pattern Recognition Prompt: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writing patterns associated with misinformation (emotional language, exaggeration,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Cross-Modal Consistency Prompt: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extracted image text with post text to identify inconsistencies.</a:t>
            </a: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Implementation:</a:t>
            </a:r>
            <a:endParaRPr lang="en-IN" sz="2400" b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employ Py-Tesseract with custom pre-processing steps to optimize text extraction from social media images:</a:t>
            </a: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Image enhancement using adaptive histogram equalization.</a:t>
            </a: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Noise reduction through bilateral filtering.</a:t>
            </a: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Text region detection and isolation.</a:t>
            </a: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Multi-scale OCR processing to handle varying text sizes.</a:t>
            </a:r>
          </a:p>
          <a:p>
            <a:pPr>
              <a:buNone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Post-processing to correct common OCR errors using context-aware techniques.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41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6A0D251-5B27-BE72-1D18-96A8F2BF3F70}"/>
              </a:ext>
            </a:extLst>
          </p:cNvPr>
          <p:cNvSpPr txBox="1"/>
          <p:nvPr/>
        </p:nvSpPr>
        <p:spPr>
          <a:xfrm>
            <a:off x="618565" y="510988"/>
            <a:ext cx="2978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System Architecture: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A31EA16-1B0B-F32A-6F3D-CA7BB7F39A9B}"/>
              </a:ext>
            </a:extLst>
          </p:cNvPr>
          <p:cNvSpPr txBox="1"/>
          <p:nvPr/>
        </p:nvSpPr>
        <p:spPr>
          <a:xfrm>
            <a:off x="618565" y="4662527"/>
            <a:ext cx="7802136" cy="2195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Module:</a:t>
            </a:r>
          </a:p>
          <a:p>
            <a:pPr>
              <a:lnSpc>
                <a:spcPts val="1425"/>
              </a:lnSpc>
              <a:buNone/>
            </a:pPr>
            <a:endParaRPr lang="en-IN" sz="2400" b="1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Interfaces with social media APIs (Twitter, Facebook, Instagram).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Implements rate limiting and compliance with platform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Filters content based on configurable criteria (keywords, engagement metrics).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Structures incoming data into standardized format for processing.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DBD6D6F-A609-11DA-313F-51D017E4B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219" y="1369070"/>
            <a:ext cx="4400550" cy="27527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7083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44B5A5C-672C-DB6A-8089-F8E6C1C2B6EA}"/>
              </a:ext>
            </a:extLst>
          </p:cNvPr>
          <p:cNvSpPr txBox="1"/>
          <p:nvPr/>
        </p:nvSpPr>
        <p:spPr>
          <a:xfrm>
            <a:off x="282388" y="457200"/>
            <a:ext cx="7058407" cy="6791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 Module:</a:t>
            </a:r>
          </a:p>
          <a:p>
            <a:pPr>
              <a:lnSpc>
                <a:spcPts val="1425"/>
              </a:lnSpc>
              <a:buNone/>
            </a:pPr>
            <a:endParaRPr lang="en-IN" sz="2400" b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text (normalization, tokenization).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Constructs appropriate prompts for Deep-Seek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Deep-Seek responses to extract classification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text-based credibility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 Module:</a:t>
            </a:r>
          </a:p>
          <a:p>
            <a:pPr>
              <a:lnSpc>
                <a:spcPts val="1425"/>
              </a:lnSpc>
              <a:buNone/>
            </a:pPr>
            <a:endParaRPr lang="en-IN" sz="2400" b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Performs image preprocessing and enhancement.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Executes Py-Tesseract OCR to extract embedded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Analyses image metadata for manipulation indicators.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Calculates image-based credibility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and Decision Module:</a:t>
            </a:r>
          </a:p>
          <a:p>
            <a:pPr>
              <a:lnSpc>
                <a:spcPts val="1425"/>
              </a:lnSpc>
              <a:buNone/>
            </a:pPr>
            <a:endParaRPr lang="en-IN" sz="2400" b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signals from text and image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Applies weighted ensemble algorithm to determine final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Generates confidence scores for classification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Triggers explanation generation process.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38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FE5BADD-9605-44D6-F5E9-9ED53CE0CD1C}"/>
              </a:ext>
            </a:extLst>
          </p:cNvPr>
          <p:cNvSpPr txBox="1"/>
          <p:nvPr/>
        </p:nvSpPr>
        <p:spPr>
          <a:xfrm>
            <a:off x="1035423" y="1509020"/>
            <a:ext cx="8256494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and API Module:</a:t>
            </a:r>
          </a:p>
          <a:p>
            <a:pPr>
              <a:lnSpc>
                <a:spcPts val="1425"/>
              </a:lnSpc>
              <a:buNone/>
            </a:pPr>
            <a:endParaRPr lang="en-US" sz="2400" b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REST API for system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Delivers classifications with explanations in structured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visualization of detection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for system improvement.</a:t>
            </a:r>
          </a:p>
          <a:p>
            <a:pPr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is designed for horizontal scalability, with containerized components that can be deployed across multiple nodes to handle increased load during viral events.</a:t>
            </a: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849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3E31512-5063-76B0-6C2F-20EEB1700464}"/>
              </a:ext>
            </a:extLst>
          </p:cNvPr>
          <p:cNvSpPr txBox="1"/>
          <p:nvPr/>
        </p:nvSpPr>
        <p:spPr>
          <a:xfrm>
            <a:off x="658906" y="457200"/>
            <a:ext cx="3214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3A6E462-8B5B-1A1D-D536-5D0540BDD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318" y="2003611"/>
            <a:ext cx="8117541" cy="4101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1FA29CD-355B-32CB-DD1C-611D2AA28121}"/>
              </a:ext>
            </a:extLst>
          </p:cNvPr>
          <p:cNvSpPr txBox="1"/>
          <p:nvPr/>
        </p:nvSpPr>
        <p:spPr>
          <a:xfrm>
            <a:off x="1385046" y="1105961"/>
            <a:ext cx="307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HOME PAGE-INPUT PAGE</a:t>
            </a:r>
          </a:p>
        </p:txBody>
      </p:sp>
    </p:spTree>
    <p:extLst>
      <p:ext uri="{BB962C8B-B14F-4D97-AF65-F5344CB8AC3E}">
        <p14:creationId xmlns:p14="http://schemas.microsoft.com/office/powerpoint/2010/main" val="2790377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F8B55D-4D12-DFE4-E02C-4B2B8A1A0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541" y="1553596"/>
            <a:ext cx="8148918" cy="43770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42A3959-87EA-7FB8-E624-AA4DFA8743B5}"/>
              </a:ext>
            </a:extLst>
          </p:cNvPr>
          <p:cNvSpPr txBox="1"/>
          <p:nvPr/>
        </p:nvSpPr>
        <p:spPr>
          <a:xfrm>
            <a:off x="685800" y="658906"/>
            <a:ext cx="555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AND TEXT EXTRACTION PAGE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628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8FE2784-971A-942A-567E-491B6DA2B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605" y="1425388"/>
            <a:ext cx="8861612" cy="44644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8896A44-57A2-19BE-CA6B-5611BD445282}"/>
              </a:ext>
            </a:extLst>
          </p:cNvPr>
          <p:cNvSpPr txBox="1"/>
          <p:nvPr/>
        </p:nvSpPr>
        <p:spPr>
          <a:xfrm>
            <a:off x="833718" y="672353"/>
            <a:ext cx="450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FAKE NEWS ANALYSIS RESULTS PAGE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82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4D80381-ADA9-E749-15DA-37362CF0E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90" y="1667434"/>
            <a:ext cx="8744116" cy="45854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40A1DA-FBE7-C379-599C-BE24AED3B4E4}"/>
              </a:ext>
            </a:extLst>
          </p:cNvPr>
          <p:cNvSpPr txBox="1"/>
          <p:nvPr/>
        </p:nvSpPr>
        <p:spPr>
          <a:xfrm>
            <a:off x="941294" y="766482"/>
            <a:ext cx="1824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OUTPUT PAGE</a:t>
            </a:r>
          </a:p>
        </p:txBody>
      </p:sp>
    </p:spTree>
    <p:extLst>
      <p:ext uri="{BB962C8B-B14F-4D97-AF65-F5344CB8AC3E}">
        <p14:creationId xmlns:p14="http://schemas.microsoft.com/office/powerpoint/2010/main" val="3488038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1" y="403411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67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941" y="598235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44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18" y="672352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64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F162430-ED3A-57BC-1ACD-D8BCF2FB9DB0}"/>
              </a:ext>
            </a:extLst>
          </p:cNvPr>
          <p:cNvSpPr txBox="1"/>
          <p:nvPr/>
        </p:nvSpPr>
        <p:spPr>
          <a:xfrm>
            <a:off x="927847" y="605118"/>
            <a:ext cx="8807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Findings:                  </a:t>
            </a:r>
          </a:p>
          <a:p>
            <a:r>
              <a:rPr lang="en-US" dirty="0"/>
              <a:t>                 Our initial evaluation demonstrates promising results across multiple performance dimensions: </a:t>
            </a:r>
          </a:p>
          <a:p>
            <a:endParaRPr lang="en-US" dirty="0"/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Accuracy:                       </a:t>
            </a:r>
          </a:p>
          <a:p>
            <a:r>
              <a:rPr lang="en-US" dirty="0"/>
              <a:t>                   The system was evaluated on a curated test set of 500 social media posts (250 verified genuine, 250 verified fake) with multimodal content: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2F5C4F1B-EF5F-328B-7631-CA775E9E7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11342"/>
              </p:ext>
            </p:extLst>
          </p:nvPr>
        </p:nvGraphicFramePr>
        <p:xfrm>
          <a:off x="1220155" y="3110439"/>
          <a:ext cx="9071610" cy="2281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9210">
                  <a:extLst>
                    <a:ext uri="{9D8B030D-6E8A-4147-A177-3AD203B41FA5}">
                      <a16:colId xmlns:a16="http://schemas.microsoft.com/office/drawing/2014/main" xmlns="" val="34531848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6061484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15503837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1735160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1057792596"/>
                    </a:ext>
                  </a:extLst>
                </a:gridCol>
              </a:tblGrid>
              <a:tr h="570458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60319045"/>
                  </a:ext>
                </a:extLst>
              </a:tr>
              <a:tr h="570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Text-Only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.79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76.3%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8591864"/>
                  </a:ext>
                </a:extLst>
              </a:tr>
              <a:tr h="570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Image-Only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72.1%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2137867"/>
                  </a:ext>
                </a:extLst>
              </a:tr>
              <a:tr h="570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(Our System)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65542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327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A695A73-4B66-7465-0FFF-51FD842FEB78}"/>
              </a:ext>
            </a:extLst>
          </p:cNvPr>
          <p:cNvSpPr txBox="1"/>
          <p:nvPr/>
        </p:nvSpPr>
        <p:spPr>
          <a:xfrm>
            <a:off x="672353" y="699247"/>
            <a:ext cx="10059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multimodal approach consistently outperformed single-modality methods, with particularly strong improvement for posts containing inconsistencies between textual claims and image content.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Processing Speed: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testing revealed:</a:t>
            </a:r>
          </a:p>
          <a:p>
            <a:pPr marL="342900" lvl="0" indent="-342900">
              <a:buFont typeface="Wingdings" panose="05000000000000000000" pitchFamily="2" charset="2"/>
              <a:buChar char="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Average processing time: 1.2 seconds per post (end-to-end).</a:t>
            </a:r>
          </a:p>
          <a:p>
            <a:pPr marL="342900" lvl="0" indent="-342900">
              <a:buFont typeface="Wingdings" panose="05000000000000000000" pitchFamily="2" charset="2"/>
              <a:buChar char="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Throughput capacity: ~3000 posts per hour per node.</a:t>
            </a:r>
          </a:p>
          <a:p>
            <a:pPr marL="342900" lvl="0" indent="-342900">
              <a:buFont typeface="Wingdings" panose="05000000000000000000" pitchFamily="2" charset="2"/>
              <a:buChar char="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Scaling linearity: Near-linear performance scaling with additional nodes.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These metrics indicate suitability for real-time monitoring of social media feeds, even during high-volume periods.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056C599-A114-40BE-5719-9E7ADB4C206E}"/>
              </a:ext>
            </a:extLst>
          </p:cNvPr>
          <p:cNvSpPr txBox="1"/>
          <p:nvPr/>
        </p:nvSpPr>
        <p:spPr>
          <a:xfrm>
            <a:off x="443753" y="4761898"/>
            <a:ext cx="8404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Explanation Quality: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Human evaluators rated explanation quality on a 5-point scale across three dimensions: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268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81428147-C5DF-4ADA-03FD-B64C0FA1F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278927"/>
              </p:ext>
            </p:extLst>
          </p:nvPr>
        </p:nvGraphicFramePr>
        <p:xfrm>
          <a:off x="1330720" y="429935"/>
          <a:ext cx="8127999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2996707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9058377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1534122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Dimension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Average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74645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Clarity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70041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Relevance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600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Persuasiveness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90879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8E3C606-85C9-5A29-84C9-5AB25E608C1F}"/>
              </a:ext>
            </a:extLst>
          </p:cNvPr>
          <p:cNvSpPr txBox="1"/>
          <p:nvPr/>
        </p:nvSpPr>
        <p:spPr>
          <a:xfrm>
            <a:off x="441512" y="2232212"/>
            <a:ext cx="113089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Qualitative feedback indicated that explanations highlighting cross-modal inconsistencies were particularly convincing to users.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Adaptability:</a:t>
            </a:r>
          </a:p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 demonstrated robust performance across different domains of fake news: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169407D-3061-8B61-FCA8-70225C65A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99967"/>
              </p:ext>
            </p:extLst>
          </p:nvPr>
        </p:nvGraphicFramePr>
        <p:xfrm>
          <a:off x="1330720" y="4076609"/>
          <a:ext cx="510838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1365">
                  <a:extLst>
                    <a:ext uri="{9D8B030D-6E8A-4147-A177-3AD203B41FA5}">
                      <a16:colId xmlns:a16="http://schemas.microsoft.com/office/drawing/2014/main" xmlns="" val="3621953607"/>
                    </a:ext>
                  </a:extLst>
                </a:gridCol>
                <a:gridCol w="2407023">
                  <a:extLst>
                    <a:ext uri="{9D8B030D-6E8A-4147-A177-3AD203B41FA5}">
                      <a16:colId xmlns:a16="http://schemas.microsoft.com/office/drawing/2014/main" xmlns="" val="2399465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Dimension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7861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political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91.2%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9907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Health/Medical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657722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91E506B-8CBA-91F4-71EB-A172CB01A029}"/>
              </a:ext>
            </a:extLst>
          </p:cNvPr>
          <p:cNvSpPr txBox="1"/>
          <p:nvPr/>
        </p:nvSpPr>
        <p:spPr>
          <a:xfrm>
            <a:off x="441512" y="5741894"/>
            <a:ext cx="10337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cross-domain effectiveness suggests that the approach generalizes well without domain-specific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592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9D0091B-9D47-9ACB-59D8-B9CAA1B0B657}"/>
              </a:ext>
            </a:extLst>
          </p:cNvPr>
          <p:cNvSpPr txBox="1"/>
          <p:nvPr/>
        </p:nvSpPr>
        <p:spPr>
          <a:xfrm>
            <a:off x="457200" y="416858"/>
            <a:ext cx="1094859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Conclusion:</a:t>
            </a:r>
          </a:p>
          <a:p>
            <a:pPr>
              <a:buNone/>
            </a:pPr>
            <a:endParaRPr lang="en-IN" sz="1800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paper presents a novel approach to fake news detection that addresses critical limitations in existing systems. </a:t>
            </a: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combining the zero-shot learning capabilities of the Deep-Seek API with Py-Tesseract for image text extraction, our system achieves high accuracy without requiring extensive trained data.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multimodal architecture enables comprehensive analysis of both textual content and images, capturing cross-modal inconsistencies that 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single-modality approaches miss .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Preliminary findings demonstrate superior performance compared to text-only or image-only methods, with real-time processing capabilities suitable for social media monitoring.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system's ability to provide transparent explanations enhances user trust and facilitates more effective content moderation.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 work will focus on expanding the system to handle video content, improving explanation generation, and developing techniques for identifying coordinated misinformation campaigns across multiple posts.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Additionally, we plan to investigate the system's performance across multiple languages and cultural contexts.</a:t>
            </a:r>
          </a:p>
          <a:p>
            <a:pPr>
              <a:buNone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448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921AAF1-615F-57E5-7A1E-0C641C1863CA}"/>
              </a:ext>
            </a:extLst>
          </p:cNvPr>
          <p:cNvSpPr txBox="1"/>
          <p:nvPr/>
        </p:nvSpPr>
        <p:spPr>
          <a:xfrm>
            <a:off x="98474" y="416859"/>
            <a:ext cx="108688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Reference:</a:t>
            </a:r>
          </a:p>
          <a:p>
            <a:pPr algn="ctr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Brown, T. B., Mann, B., Ryder, N., Subbiah, M., Kaplan, J., Dhariwal, P., ... &amp; Amodei, D. (2020). Language models are few-shot learners.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*Advances in Neural Information Processing Systems*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33, 1877-1901.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Devlin, J., Chang, M. W., Lee, K., &amp; Toutanova, K. (2019). BERT: Pre-training of deep bidirectional transformers for language understanding.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*Proceedings of NAACL-HLT 2019*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4171-4186.</a:t>
            </a: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Jin, Z., Cao, J., Guo, H., Zhang, Y., &amp; Luo, J. (2020). Multimodal fusion with recurrent neural networks for deceptive content detection on microblogs.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*ACM Multimedia Conference*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795-803.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Qian, F., Gong, C., Sharma, K., &amp; Liu, Y. (2021). Neural networks for detecting fake news based on visual features.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*IEEE Transactions on Information Forensics and Security*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16, 4240-4252.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Shu, K., Sliva, A., Wang, S., Tang, J., &amp; Liu, H. (2017). Fake news detection on social media: A data mining perspective.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*ACM SIGKDD Explorations Newsletter*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19(1), 22-36.</a:t>
            </a: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D953B7D-B824-1723-404E-54B40E4D38F2}"/>
              </a:ext>
            </a:extLst>
          </p:cNvPr>
          <p:cNvSpPr txBox="1"/>
          <p:nvPr/>
        </p:nvSpPr>
        <p:spPr>
          <a:xfrm>
            <a:off x="98474" y="5190565"/>
            <a:ext cx="117465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Singhal, S., Shah, R. R., Chakraborty, T., Kumaraguru, P., &amp; Satoh, S. (2022). Spot Fake: A multi-modal framework for fake news detection. *IEEE Transactions on Computational Social Systems*, 9(1), 184-196.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Zhou, X., Wu, J., &amp; </a:t>
            </a:r>
            <a:r>
              <a:rPr lang="en-IN" dirty="0" err="1"/>
              <a:t>Zafarani</a:t>
            </a:r>
            <a:r>
              <a:rPr lang="en-IN" dirty="0"/>
              <a:t>, R. (2020). SAFE: Similarity-aware multi-modal fake news detection. *Pacific-Asia Conference on Knowledge Discovery and Data Mining*, 354-367. </a:t>
            </a:r>
          </a:p>
        </p:txBody>
      </p:sp>
    </p:spTree>
    <p:extLst>
      <p:ext uri="{BB962C8B-B14F-4D97-AF65-F5344CB8AC3E}">
        <p14:creationId xmlns:p14="http://schemas.microsoft.com/office/powerpoint/2010/main" val="411413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841</TotalTime>
  <Words>1631</Words>
  <Application>Microsoft Office PowerPoint</Application>
  <PresentationFormat>Custom</PresentationFormat>
  <Paragraphs>280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ram</dc:creator>
  <cp:lastModifiedBy>hemalatha</cp:lastModifiedBy>
  <cp:revision>46</cp:revision>
  <dcterms:created xsi:type="dcterms:W3CDTF">2025-03-17T00:33:44Z</dcterms:created>
  <dcterms:modified xsi:type="dcterms:W3CDTF">2025-05-31T05:42:27Z</dcterms:modified>
</cp:coreProperties>
</file>